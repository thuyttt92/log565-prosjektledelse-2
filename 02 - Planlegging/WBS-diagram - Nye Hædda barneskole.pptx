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4552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4400" b="1">
                <a:solidFill>
                  <a:srgbClr val="1F4E79"/>
                </a:solidFill>
              </a:rPr>
              <a:t>WBS-diagram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11274552" cy="7315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2800" b="0">
                <a:solidFill>
                  <a:srgbClr val="2E75B6"/>
                </a:solidFill>
              </a:rPr>
              <a:t>Nye Hædda barneskole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7455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400" b="0">
                <a:solidFill>
                  <a:srgbClr val="595959"/>
                </a:solidFill>
              </a:rPr>
              <a:t>LOG565 Prosjektledelse 2 — Mappeinnlevering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74552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A6A6A6"/>
                </a:solidFill>
              </a:rPr>
              <a:t>Versjon 1.0 — 04.05.2026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400" b="1">
                <a:solidFill>
                  <a:srgbClr val="1F4E79"/>
                </a:solidFill>
              </a:rPr>
              <a:t>WBS — Oversikt nivå 1 og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Nye Hædda barneskole — total 116 linjer i 4 nivåer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0" y="1188720"/>
            <a:ext cx="2103120" cy="548640"/>
          </a:xfrm>
          <a:prstGeom prst="roundRect">
            <a:avLst/>
          </a:prstGeom>
          <a:solidFill>
            <a:srgbClr val="0F2D4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300" b="1">
                <a:solidFill>
                  <a:srgbClr val="FFFFFF"/>
                </a:solidFill>
              </a:rPr>
              <a:t>Nye Hædda barneskole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2194560"/>
            <a:ext cx="1371600" cy="50292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 Prosjektledelse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24297" y="2194560"/>
            <a:ext cx="1371600" cy="50292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 Prosjektering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4274" y="2194560"/>
            <a:ext cx="1371600" cy="50292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 Forberedelse/riving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24251" y="2194560"/>
            <a:ext cx="1371600" cy="50292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 Bygningsmessig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74228" y="2194560"/>
            <a:ext cx="1371600" cy="50292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 Tekniske anlegg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24205" y="2194560"/>
            <a:ext cx="1371600" cy="50292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 Utomhus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74182" y="2194560"/>
            <a:ext cx="1371600" cy="50292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7. Inventar (FF&amp;E)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424160" y="2194560"/>
            <a:ext cx="1371600" cy="50292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 Overtakelse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83464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1.1 Prosjektstyring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324612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1.2 Kontraktsoppfølging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65760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1.3 Interessenthåndtering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406908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1.4 Risiko- og kvalitetsstyring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24297" y="283464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2.1 Detaljprosjektering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724297" y="324612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2.2 Offentlige godkjenninger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724297" y="365760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2.3 Konkurransegrunnlag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74274" y="283464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3.1 Miljøsanering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74274" y="324612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3.2 Riving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174274" y="365760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3.3 Grunnarbeid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24251" y="283464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4.1 Råbygg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24251" y="324612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4.2 1. etasje (1–4)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4251" y="365760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4.3 2. etasje (5–7)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24251" y="406908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4.4 3. etasje (8–10)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24251" y="448056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4.5 Gymsal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74228" y="283464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5.1 VVS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074228" y="324612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5.2 Elektro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74228" y="365760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5.3 Heis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74228" y="406908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5.4 SD-anlegg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074228" y="448056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5.5 IKT/sikkerhet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24205" y="283464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6.1 Lekearealer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24205" y="324612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6.2 Sport og fritid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24205" y="365760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6.3 Infrastruktur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24205" y="406908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6.4 Grøntanlegg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4182" y="283464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7.1 Løst inventar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974182" y="324612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7.2 Spesialutstyr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974182" y="365760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7.3 AV-løsninger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424160" y="283464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8.1 Testing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424160" y="324612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8.2 Ferdigbefaring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365760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8.3 FDV-dok.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424160" y="406908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8.4 Brukeropplæring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424160" y="4480560"/>
            <a:ext cx="1371600" cy="36576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8.5 Sluttrapport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WBS 1 — Prosjektledelse og administrasjon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Ansvarlig: Prosjektleder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50292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1.1 Prosjektstyring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1.1.1 Etablere baseline (Gantt + budsjett)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1.1.2 Månedlig styringsrapportering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1.1.3 Endringsstyring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280160"/>
            <a:ext cx="2286000" cy="50292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1.2 Kontraktsoppfølging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1.2.1 Kontraktsforhandling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1.2.2 Avviks- og endringslogg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280160"/>
            <a:ext cx="2286000" cy="50292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1.3 Interessenthåndtering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1.3.1 Brukermøter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1.3.2 Kommunikasjonsplan og nyhetsbrev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1280160"/>
            <a:ext cx="2286000" cy="502920"/>
          </a:xfrm>
          <a:prstGeom prst="roundRect">
            <a:avLst/>
          </a:prstGeom>
          <a:solidFill>
            <a:srgbClr val="1F4E79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1.4 Risiko- og kvalitetsstyring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1.4.1 Vedlikehold av risikoregister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1.4.2 HMS-revisjoner og SJA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1.4.3 Kvalitetsplan og kontroller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WBS 2 — Planlegging og prosjektering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Ansvarlig: Prosjekteringsleder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50292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2.1 Detaljprosjektering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2.1.1 Arkitekttegninger og romprogram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2.1.2 Konstruksjonstegninger (RIB)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2.1.3 VVS-tegninger (RIV)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461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2.1.4 Elektro-tegninger (RIE)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37033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2.1.5 IKT- og sikkerhetsprosjektering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41605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2.1.6 Akustisk prosjektering (RIA)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1280160"/>
            <a:ext cx="2286000" cy="50292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2.2 Offentlige godkjenninger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2.2.1 Rammetillatelse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2.2.2 Igangsettingstillatelse (IG)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2.2.3 Nabovarsel og innsigelseshåndtering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0" y="1280160"/>
            <a:ext cx="2286000" cy="502920"/>
          </a:xfrm>
          <a:prstGeom prst="roundRect">
            <a:avLst/>
          </a:prstGeom>
          <a:solidFill>
            <a:srgbClr val="2E75B6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2.3 Konkurransegrunnlag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2.3.1 Kontraktstrategi og kvalifikasjonskrav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2.3.2 Tilbudsfase og kontrahering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WBS 3 — Forberedelse og riving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Ansvarlig: Entreprenør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50292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3.1 Miljøsanering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3.1.1 Miljøkartlegging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3.1.2 Sanering og avhending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0" y="1280160"/>
            <a:ext cx="2286000" cy="50292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3.2 Riving av eksisterende skole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1280160"/>
            <a:ext cx="2286000" cy="502920"/>
          </a:xfrm>
          <a:prstGeom prst="roundRect">
            <a:avLst/>
          </a:prstGeom>
          <a:solidFill>
            <a:srgbClr val="548235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3.3 Grunnarbeid og fundamentering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3.3.1 Geoteknisk grunnundersøkelse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3.3.2 Masseutskifting og sprenging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3.3.3 Etablere fundamenter og bunnplate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WBS 4 — Skolebygg — bygningsmessige arbeider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Ansvarlig: Totalentreprenør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50292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4.1 Råbygg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4.1.1 Bærekonstruksjon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4.1.2 Tak og takmembran inkl. sedumtak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4.1.3 Fasade og vinduer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40" y="1280160"/>
            <a:ext cx="2286000" cy="50292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4.2 Innvendig 1. etasje (småtrinn 1–4)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4.2.1 Klasseromsfløy 1–4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4.2.2 SFO-areal med separat inngang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4.2.3 Helseavdeling og kantine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60" y="1280160"/>
            <a:ext cx="2286000" cy="50292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4.3 Innvendig 2. etasje (mellomtrinn 5–7)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4.3.1 Klasseromsfløy 5–7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4.3.2 Bibliotek og auditorium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4.3.3 Administrasjon og resepsjon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280160"/>
            <a:ext cx="2286000" cy="50292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4.4 Innvendig 3. etasje (ungdomstrinn 8–10)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4.4.1 Klasseromsfløy 8–10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8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4.4.2 Spesialrom (naturfag, musikk, K&amp;H, mat&amp;helse)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4.4.3 Driftssone (vaktmester, lager, verksted)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280160"/>
            <a:ext cx="2286000" cy="502920"/>
          </a:xfrm>
          <a:prstGeom prst="roundRect">
            <a:avLst/>
          </a:prstGeom>
          <a:solidFill>
            <a:srgbClr val="C65911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4.5 Gymsal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4.5.1 Hovedhall og sportsgulv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4.5.2 Garderober og dusjanlegg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WBS 5 — Skolebygg — tekniske anlegg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Ansvarlig: Tekniske entreprenører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50292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5.1 VVS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5.1.1 Vannbåren varme + fjernvarme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5.1.2 Balansert ventilasjon m/varmegjenvinning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5.1.3 Sanitær- og avløpsanlegg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32461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5.1.4 Sprinkleranlegg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06040" y="1280160"/>
            <a:ext cx="2286000" cy="50292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5.2 Elektro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0604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5.2.1 Hovedfordeling og kraftkurser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5.2.2 Belysning (LED + styring)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0604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5.2.3 UPS og nødlys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06040" y="32461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5.2.4 Lynvern og jordingsanlegg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1280160"/>
            <a:ext cx="2286000" cy="50292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5.3 Heis og vertikal transport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280160"/>
            <a:ext cx="2286000" cy="50292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5.4 Automasjon — SD-anlegg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8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5.4.1 Programmering og tagliste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6948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5.4.2 Idriftsetting og innregulering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280160"/>
            <a:ext cx="2286000" cy="502920"/>
          </a:xfrm>
          <a:prstGeom prst="roundRect">
            <a:avLst/>
          </a:prstGeom>
          <a:solidFill>
            <a:srgbClr val="BF8F0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5.5 IKT og sikkerhet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5.5.1 Strukturert kabling og WiFi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5.5.2 Adgangskontroll og lockdown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0" y="27889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5.5.3 Kamera- og innbruddsalarm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32461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5.5.4 AV-utstyr i klasserom og auditorium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37033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5.5.5 Serverrom og teleslynge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WBS 6 — Utomhus og uteområder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Ansvarlig: Landskapsentreprenør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50292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6.1 Lekearealer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1280160"/>
            <a:ext cx="2286000" cy="50292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6.2 Sport og fritid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280160"/>
            <a:ext cx="2286000" cy="50292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6.3 Infrastruktur og parkering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280160"/>
            <a:ext cx="2286000" cy="502920"/>
          </a:xfrm>
          <a:prstGeom prst="roundRect">
            <a:avLst/>
          </a:prstGeom>
          <a:solidFill>
            <a:srgbClr val="385723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6.4 Grøntanlegg og støyskjerming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WBS 7 — Inventar og utstyr (FF&amp;E)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Ansvarlig: Innkjøpsleder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50292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7.1 Løst inventar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37760" y="1280160"/>
            <a:ext cx="2286000" cy="50292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7.2 Spesialutstyr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1280160"/>
            <a:ext cx="2286000" cy="502920"/>
          </a:xfrm>
          <a:prstGeom prst="roundRect">
            <a:avLst/>
          </a:prstGeom>
          <a:solidFill>
            <a:srgbClr val="7030A0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7.3 AV-løsninger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12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1F4E79"/>
                </a:solidFill>
              </a:rPr>
              <a:t>WBS 8 — Overtakelse og avslutning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0080"/>
            <a:ext cx="116128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</a:rPr>
              <a:t>Ansvarlig: Prosjektleder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280160"/>
            <a:ext cx="2286000" cy="50292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8.1 Testing og prøvedrift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74519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8.1.1 Funksjonstester (HVAC, elektro, IKT)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2331720"/>
            <a:ext cx="2286000" cy="411480"/>
          </a:xfrm>
          <a:prstGeom prst="roundRect">
            <a:avLst/>
          </a:prstGeom>
          <a:solidFill>
            <a:srgbClr val="FFF2C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800" b="0">
                <a:solidFill>
                  <a:srgbClr val="000000"/>
                </a:solidFill>
              </a:rPr>
              <a:t>8.1.2 Brann- og rømningstest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06040" y="1280160"/>
            <a:ext cx="2286000" cy="50292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8.2 Ferdigbefaring (BP3)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60" y="1280160"/>
            <a:ext cx="2286000" cy="50292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8.3 FDV-dokumentasjon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9480" y="1280160"/>
            <a:ext cx="2286000" cy="50292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8.4 Brukeropplæring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1280160"/>
            <a:ext cx="2286000" cy="502920"/>
          </a:xfrm>
          <a:prstGeom prst="roundRect">
            <a:avLst/>
          </a:prstGeom>
          <a:solidFill>
            <a:srgbClr val="843C0C"/>
          </a:solidFill>
          <a:ln w="9525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8.5 Prosjektevaluering og sluttrapport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