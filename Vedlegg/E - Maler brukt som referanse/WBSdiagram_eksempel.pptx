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5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36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WBS-diagram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Fiktivt byggeprosjekt – Leilighetsbygg Solsiden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38160" y="1234440"/>
            <a:ext cx="3063240" cy="16002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8366760" y="1444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Innhold i diagrammet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6676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</a:t>
            </a:r>
            <a:r>
              <a:rPr lang="en-US" sz="13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milepæler</a:t>
            </a: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23 </a:t>
            </a:r>
            <a:r>
              <a:rPr lang="en-US" sz="13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arbeidspakker</a:t>
            </a:r>
            <a:endParaRPr lang="en-US" sz="1300" dirty="0">
              <a:solidFill>
                <a:srgbClr val="24344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r>
              <a:rPr lang="en-US" sz="13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</a:t>
            </a: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egnet</a:t>
            </a: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for import / </a:t>
            </a:r>
            <a:r>
              <a:rPr lang="en-US" sz="13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videre</a:t>
            </a: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planstyring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172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 2 viser hele WBS-hierarkiet.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Arbeidsnedbrytningsstruktur (WBS)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Hele prosjektstrukturen med hovedfaser og arbeidspakker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80760" y="1463040"/>
            <a:ext cx="0" cy="365760"/>
          </a:xfrm>
          <a:prstGeom prst="line">
            <a:avLst/>
          </a:prstGeom>
          <a:noFill/>
          <a:ln w="15875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2240280" y="2276856"/>
            <a:ext cx="0" cy="18745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2240280" y="2276856"/>
            <a:ext cx="0" cy="55321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2240280" y="2276856"/>
            <a:ext cx="0" cy="91897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2240280" y="2276856"/>
            <a:ext cx="0" cy="128473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2240280" y="2276856"/>
            <a:ext cx="0" cy="165049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2240280" y="2276856"/>
            <a:ext cx="0" cy="201625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 flipH="1">
            <a:off x="2234184" y="1463040"/>
            <a:ext cx="3846576" cy="365760"/>
          </a:xfrm>
          <a:prstGeom prst="line">
            <a:avLst/>
          </a:prstGeom>
          <a:noFill/>
          <a:ln w="15875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6099048" y="2276856"/>
            <a:ext cx="0" cy="18745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6099048" y="2276856"/>
            <a:ext cx="0" cy="55321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6099048" y="2276856"/>
            <a:ext cx="0" cy="91897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6099048" y="2276856"/>
            <a:ext cx="0" cy="128473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6099048" y="2276856"/>
            <a:ext cx="0" cy="165049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6099048" y="2276856"/>
            <a:ext cx="0" cy="201625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6099048" y="2276856"/>
            <a:ext cx="0" cy="238201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6099048" y="2276856"/>
            <a:ext cx="0" cy="274777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3877056" cy="365760"/>
          </a:xfrm>
          <a:prstGeom prst="line">
            <a:avLst/>
          </a:prstGeom>
          <a:noFill/>
          <a:ln w="15875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9957816" y="2276856"/>
            <a:ext cx="0" cy="18745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9957816" y="2276856"/>
            <a:ext cx="0" cy="55321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9957816" y="2276856"/>
            <a:ext cx="0" cy="91897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9957816" y="2276856"/>
            <a:ext cx="0" cy="128473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9957816" y="2276856"/>
            <a:ext cx="0" cy="165049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9957816" y="2276856"/>
            <a:ext cx="0" cy="201625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9957816" y="2276856"/>
            <a:ext cx="0" cy="238201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9957816" y="2276856"/>
            <a:ext cx="0" cy="274777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9957816" y="2276856"/>
            <a:ext cx="0" cy="3113532"/>
          </a:xfrm>
          <a:prstGeom prst="line">
            <a:avLst/>
          </a:prstGeom>
          <a:noFill/>
          <a:ln w="11430">
            <a:solidFill>
              <a:srgbClr val="D0D7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3794760" y="914400"/>
            <a:ext cx="4572000" cy="530352"/>
          </a:xfrm>
          <a:prstGeom prst="rect">
            <a:avLst/>
          </a:prstGeom>
          <a:solidFill>
            <a:srgbClr val="1F4E78"/>
          </a:solidFill>
          <a:ln w="16510">
            <a:solidFill>
              <a:srgbClr val="1F4E78"/>
            </a:solidFill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 Fiktivt byggprosjekt – Leilighetsbygg Solsiden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11480" y="1828800"/>
            <a:ext cx="3657600" cy="438912"/>
          </a:xfrm>
          <a:prstGeom prst="rect">
            <a:avLst/>
          </a:prstGeom>
          <a:solidFill>
            <a:srgbClr val="EAF2F8"/>
          </a:solidFill>
          <a:ln w="16510">
            <a:solidFill>
              <a:srgbClr val="2F6B9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Forprosjekt og myndigheter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3504" y="248716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Oppstartsmøte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603504" y="285292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Prosjektering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603504" y="321868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Bestille stål og takstoler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603504" y="358444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Levere stål og takstoler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603504" y="395020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Myndighetsbehandling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603504" y="431596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 Igangsettingstillatelse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4270248" y="1828800"/>
            <a:ext cx="3657600" cy="438912"/>
          </a:xfrm>
          <a:prstGeom prst="rect">
            <a:avLst/>
          </a:prstGeom>
          <a:solidFill>
            <a:srgbClr val="EAF2F8"/>
          </a:solidFill>
          <a:ln w="16510">
            <a:solidFill>
              <a:srgbClr val="2F6B9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Bygging råbygg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462272" y="248716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Rigg og sikring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4462272" y="285292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Graving byggegrop</a:t>
            </a:r>
            <a:endParaRPr lang="en-US" sz="1140" dirty="0"/>
          </a:p>
        </p:txBody>
      </p:sp>
      <p:sp>
        <p:nvSpPr>
          <p:cNvPr id="41" name="Text 39"/>
          <p:cNvSpPr/>
          <p:nvPr/>
        </p:nvSpPr>
        <p:spPr>
          <a:xfrm>
            <a:off x="4462272" y="321868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Fundament/rebar/forskaling</a:t>
            </a:r>
            <a:endParaRPr lang="en-US" sz="1140" dirty="0"/>
          </a:p>
        </p:txBody>
      </p:sp>
      <p:sp>
        <p:nvSpPr>
          <p:cNvPr id="42" name="Text 40"/>
          <p:cNvSpPr/>
          <p:nvPr/>
        </p:nvSpPr>
        <p:spPr>
          <a:xfrm>
            <a:off x="4462272" y="358444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Støp fundament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4462272" y="395020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Herdetid fundament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4462272" y="431596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 Montasje bæresystem</a:t>
            </a:r>
            <a:endParaRPr lang="en-US" sz="1140" dirty="0"/>
          </a:p>
        </p:txBody>
      </p:sp>
      <p:sp>
        <p:nvSpPr>
          <p:cNvPr id="45" name="Text 43"/>
          <p:cNvSpPr/>
          <p:nvPr/>
        </p:nvSpPr>
        <p:spPr>
          <a:xfrm>
            <a:off x="4462272" y="468172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 Tak og klimaskjerm</a:t>
            </a:r>
            <a:endParaRPr lang="en-US" sz="1140" dirty="0"/>
          </a:p>
        </p:txBody>
      </p:sp>
      <p:sp>
        <p:nvSpPr>
          <p:cNvPr id="46" name="Text 44"/>
          <p:cNvSpPr/>
          <p:nvPr/>
        </p:nvSpPr>
        <p:spPr>
          <a:xfrm>
            <a:off x="4462272" y="504748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Fasade tett</a:t>
            </a:r>
            <a:endParaRPr lang="en-US" sz="1140" dirty="0"/>
          </a:p>
        </p:txBody>
      </p:sp>
      <p:sp>
        <p:nvSpPr>
          <p:cNvPr id="47" name="Text 45"/>
          <p:cNvSpPr/>
          <p:nvPr/>
        </p:nvSpPr>
        <p:spPr>
          <a:xfrm>
            <a:off x="8129016" y="1828800"/>
            <a:ext cx="3657600" cy="438912"/>
          </a:xfrm>
          <a:prstGeom prst="rect">
            <a:avLst/>
          </a:prstGeom>
          <a:solidFill>
            <a:srgbClr val="EAF2F8"/>
          </a:solidFill>
          <a:ln w="16510">
            <a:solidFill>
              <a:srgbClr val="2F6B9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Tekniske fag og ferdigstillelse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21040" y="248716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Råinstallasjoner VVS/elektro</a:t>
            </a:r>
            <a:endParaRPr lang="en-US" sz="1140" dirty="0"/>
          </a:p>
        </p:txBody>
      </p:sp>
      <p:sp>
        <p:nvSpPr>
          <p:cNvPr id="49" name="Text 47"/>
          <p:cNvSpPr/>
          <p:nvPr/>
        </p:nvSpPr>
        <p:spPr>
          <a:xfrm>
            <a:off x="8321040" y="285292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Innvendige vegger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8321040" y="321868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Himling og gulv</a:t>
            </a:r>
            <a:endParaRPr lang="en-US" sz="1140" dirty="0"/>
          </a:p>
        </p:txBody>
      </p:sp>
      <p:sp>
        <p:nvSpPr>
          <p:cNvPr id="51" name="Text 49"/>
          <p:cNvSpPr/>
          <p:nvPr/>
        </p:nvSpPr>
        <p:spPr>
          <a:xfrm>
            <a:off x="8321040" y="358444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Overflatearbeider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8321040" y="395020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 FDV-dokumentasjon</a:t>
            </a:r>
            <a:endParaRPr lang="en-US" sz="1140" dirty="0"/>
          </a:p>
        </p:txBody>
      </p:sp>
      <p:sp>
        <p:nvSpPr>
          <p:cNvPr id="53" name="Text 51"/>
          <p:cNvSpPr/>
          <p:nvPr/>
        </p:nvSpPr>
        <p:spPr>
          <a:xfrm>
            <a:off x="8321040" y="431596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Tester og idriftsettelse</a:t>
            </a:r>
            <a:endParaRPr lang="en-US" sz="1140" dirty="0"/>
          </a:p>
        </p:txBody>
      </p:sp>
      <p:sp>
        <p:nvSpPr>
          <p:cNvPr id="54" name="Text 52"/>
          <p:cNvSpPr/>
          <p:nvPr/>
        </p:nvSpPr>
        <p:spPr>
          <a:xfrm>
            <a:off x="8321040" y="468172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 Sluttkontroll</a:t>
            </a:r>
            <a:endParaRPr lang="en-US" sz="1140" dirty="0"/>
          </a:p>
        </p:txBody>
      </p:sp>
      <p:sp>
        <p:nvSpPr>
          <p:cNvPr id="55" name="Text 53"/>
          <p:cNvSpPr/>
          <p:nvPr/>
        </p:nvSpPr>
        <p:spPr>
          <a:xfrm>
            <a:off x="8321040" y="504748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 Overtakelse</a:t>
            </a:r>
            <a:endParaRPr lang="en-US" sz="1140" dirty="0"/>
          </a:p>
        </p:txBody>
      </p:sp>
      <p:sp>
        <p:nvSpPr>
          <p:cNvPr id="56" name="Text 54"/>
          <p:cNvSpPr/>
          <p:nvPr/>
        </p:nvSpPr>
        <p:spPr>
          <a:xfrm>
            <a:off x="8321040" y="5413248"/>
            <a:ext cx="3273552" cy="310896"/>
          </a:xfrm>
          <a:prstGeom prst="rect">
            <a:avLst/>
          </a:prstGeom>
          <a:solidFill>
            <a:srgbClr val="FFFFFF"/>
          </a:solidFill>
          <a:ln w="1651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 Stenge midlertidig adkomst</a:t>
            </a:r>
            <a:endParaRPr lang="en-US" sz="1140" dirty="0"/>
          </a:p>
        </p:txBody>
      </p:sp>
      <p:sp>
        <p:nvSpPr>
          <p:cNvPr id="57" name="Shape 55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8" name="Text 56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WBS-koder viser hierarkisk nedbrytning. Diagrammet er egnet som grunnlag for </a:t>
            </a:r>
            <a:r>
              <a:rPr lang="en-US" sz="1050" dirty="0" err="1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videre</a:t>
            </a:r>
            <a:r>
              <a:rPr lang="en-US" sz="10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5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planlegging.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Widescreen</PresentationFormat>
  <Paragraphs>39</Paragraphs>
  <Slides>2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PowerPoint-presentasjon</vt:lpstr>
      <vt:lpstr>PowerPoint-presentasjon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Arbeidsnedbrytningsstruktur (WBS) – Fiktivt byggeprosjekt</dc:title>
  <dc:subject>WBS diagram for fictive construction project</dc:subject>
  <dc:creator>OpenAI</dc:creator>
  <cp:lastModifiedBy>Bård Inge Austigard Pettersen</cp:lastModifiedBy>
  <cp:revision>2</cp:revision>
  <dcterms:created xsi:type="dcterms:W3CDTF">2026-03-23T00:37:00Z</dcterms:created>
  <dcterms:modified xsi:type="dcterms:W3CDTF">2026-03-23T00:41:52Z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59125d-3421-490c-8c49-713131ff88a1_Enabled">
    <vt:lpwstr>true</vt:lpwstr>
  </property>
  <property fmtid="{D5CDD505-2E9C-101B-9397-08002B2CF9AE}" pid="3" name="MSIP_Label_ee59125d-3421-490c-8c49-713131ff88a1_SetDate">
    <vt:lpwstr>2026-03-23T00:41:01Z</vt:lpwstr>
  </property>
  <property fmtid="{D5CDD505-2E9C-101B-9397-08002B2CF9AE}" pid="4" name="MSIP_Label_ee59125d-3421-490c-8c49-713131ff88a1_Method">
    <vt:lpwstr>Standard</vt:lpwstr>
  </property>
  <property fmtid="{D5CDD505-2E9C-101B-9397-08002B2CF9AE}" pid="5" name="MSIP_Label_ee59125d-3421-490c-8c49-713131ff88a1_Name">
    <vt:lpwstr>Yellow</vt:lpwstr>
  </property>
  <property fmtid="{D5CDD505-2E9C-101B-9397-08002B2CF9AE}" pid="6" name="MSIP_Label_ee59125d-3421-490c-8c49-713131ff88a1_SiteId">
    <vt:lpwstr>938c1eb0-9d08-484b-92b9-53f583bd08fb</vt:lpwstr>
  </property>
  <property fmtid="{D5CDD505-2E9C-101B-9397-08002B2CF9AE}" pid="7" name="MSIP_Label_ee59125d-3421-490c-8c49-713131ff88a1_ActionId">
    <vt:lpwstr>4445a961-a6eb-4668-a07f-6227f66c3dc5</vt:lpwstr>
  </property>
  <property fmtid="{D5CDD505-2E9C-101B-9397-08002B2CF9AE}" pid="8" name="MSIP_Label_ee59125d-3421-490c-8c49-713131ff88a1_ContentBits">
    <vt:lpwstr>0</vt:lpwstr>
  </property>
  <property fmtid="{D5CDD505-2E9C-101B-9397-08002B2CF9AE}" pid="9" name="MSIP_Label_ee59125d-3421-490c-8c49-713131ff88a1_Tag">
    <vt:lpwstr>10, 3, 0, 1</vt:lpwstr>
  </property>
</Properties>
</file>