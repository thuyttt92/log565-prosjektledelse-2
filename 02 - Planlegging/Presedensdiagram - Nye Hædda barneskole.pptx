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</a:rPr>
              <a:t>Presedensdiagram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4552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800" b="0">
                <a:solidFill>
                  <a:srgbClr val="2E75B6"/>
                </a:solidFill>
              </a:rPr>
              <a:t>Nye Hædda barneskole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Avhengigheter mellom hovedleveranser (Activity-on-Node)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A6A6A6"/>
                </a:solidFill>
              </a:rPr>
              <a:t>Versjon 1.0 — 04.05.2026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Hovedflyt — sekvens på nivå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Pilene viser FS-avhengigheter (Finish-to-Start). Tid og kostnad fra Bårds estimater settes inn i Gantt.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554480" cy="64008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 Prosjektledelse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43200"/>
            <a:ext cx="1554480" cy="64008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 Prosjektering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743200"/>
            <a:ext cx="1554480" cy="64008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 Riving/grunn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743200"/>
            <a:ext cx="1554480" cy="64008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 Bygg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743200"/>
            <a:ext cx="1554480" cy="64008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 Tekniske anlegg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743200"/>
            <a:ext cx="1554480" cy="64008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 Inventar (FF&amp;E)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743200"/>
            <a:ext cx="1554480" cy="64008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 Overtakelse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743200"/>
            <a:ext cx="1554480" cy="64008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 Utomhus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3063240"/>
            <a:ext cx="914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74720" y="3063240"/>
            <a:ext cx="914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0640" y="3063240"/>
            <a:ext cx="914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66560" y="3063240"/>
            <a:ext cx="914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3063240"/>
            <a:ext cx="914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74720" y="3063240"/>
            <a:ext cx="667512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" y="1280160"/>
            <a:ext cx="11612880" cy="365760"/>
          </a:xfrm>
          <a:prstGeom prst="rect">
            <a:avLst/>
          </a:prstGeom>
          <a:solidFill>
            <a:srgbClr val="DEEBF7"/>
          </a:solidFill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</a:rPr>
              <a:t>← Prosjektledelse (1.0) løper hele tiden parallelt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Kritisk linje — fra prosjektering til overtakelse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Forventet kritisk linje: 2.1 → 2.2 → 3.3 → 4.1 → 4.2-4.5 (parallell) → 5.x → 7.x → 8.1 → 8.2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188720" cy="109728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</a:t>
            </a:r>
            <a:br/>
            <a:r>
              <a:t>Detalj-</a:t>
            </a:r>
            <a:br/>
            <a:r>
              <a:t>prosjektering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2286000"/>
            <a:ext cx="1188720" cy="109728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2.2</a:t>
            </a:r>
            <a:br/>
            <a:r>
              <a:t>Off. godkjenninger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79" y="2286000"/>
            <a:ext cx="1188720" cy="109728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3.3</a:t>
            </a:r>
            <a:br/>
            <a:r>
              <a:t>Grunnarbeid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2286000"/>
            <a:ext cx="1188720" cy="109728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4.1</a:t>
            </a:r>
            <a:br/>
            <a:r>
              <a:t>Råbygg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286000"/>
            <a:ext cx="1188720" cy="109728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4.2–4.5</a:t>
            </a:r>
            <a:br/>
            <a:r>
              <a:t>Innvendig + gymsal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286000"/>
            <a:ext cx="1188720" cy="109728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5.x</a:t>
            </a:r>
            <a:br/>
            <a:r>
              <a:t>Tekniske anlegg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86000"/>
            <a:ext cx="1188720" cy="109728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7.x</a:t>
            </a:r>
            <a:br/>
            <a:r>
              <a:t>Inventar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2286000"/>
            <a:ext cx="1188720" cy="109728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8.1</a:t>
            </a:r>
            <a:br/>
            <a:r>
              <a:t>Testing / prøvedrift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81360" y="2286000"/>
            <a:ext cx="1188720" cy="109728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8.2</a:t>
            </a:r>
            <a:br/>
            <a:r>
              <a:t>Ferdigbefaring (BP3)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2834640"/>
            <a:ext cx="13716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88920" y="2834640"/>
            <a:ext cx="137159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799" y="2834640"/>
            <a:ext cx="13716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40679" y="2834640"/>
            <a:ext cx="137161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2834640"/>
            <a:ext cx="13716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92440" y="2834640"/>
            <a:ext cx="13716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18320" y="2834640"/>
            <a:ext cx="13716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44200" y="2834640"/>
            <a:ext cx="13716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41148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Parallelle løp: 6 Utomhus (kan kjøres parallelt med 4 og 5 etter 3.3) — 1 Prosjektledelse løper hele tiden.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Hovedavhengigheter (FS):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11430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3 (Riving og grunn) starter etter 2 (Prosjektering ferdig).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1430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4 (Bygg) starter etter 3 (Grunn ferdig).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1430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5 (Tekniske anlegg) starter etter 4.1 (Råbygg tett).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1430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6 (Utomhus) starter etter 3 (parallell med 4 og 5).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7 (Inventar) starter etter 4 (Bygg ferdig).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83680"/>
            <a:ext cx="11430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8 (Overtakelse) starter etter 5 og 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Presedens — 1 Prosjektledelse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828800" cy="9144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1.1</a:t>
            </a:r>
            <a:br/>
            <a:r>
              <a:t>Prosjektstyring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35680" y="2286000"/>
            <a:ext cx="1828800" cy="9144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1.2</a:t>
            </a:r>
            <a:br/>
            <a:r>
              <a:t>Kontraktsoppfølging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97040" y="2286000"/>
            <a:ext cx="1828800" cy="9144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1.3</a:t>
            </a:r>
            <a:br/>
            <a:r>
              <a:t>Interessenthåndtering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286000"/>
            <a:ext cx="1828800" cy="9144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1.4</a:t>
            </a:r>
            <a:br/>
            <a:r>
              <a:t>Risiko- og kvalitetsstyring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Innhold: 4 nivå-2-elementer i denne hovedgrenen.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2E75B6"/>
                </a:solidFill>
              </a:rPr>
              <a:t>Presedens — 2 Prosjektering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828800" cy="91440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2.1</a:t>
            </a:r>
            <a:br/>
            <a:r>
              <a:t>Detaljprosjektering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66360" y="2286000"/>
            <a:ext cx="1828800" cy="91440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2.2</a:t>
            </a:r>
            <a:br/>
            <a:r>
              <a:t>Offentlige godkjenninger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286000"/>
            <a:ext cx="1828800" cy="91440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2.3</a:t>
            </a:r>
            <a:br/>
            <a:r>
              <a:t>Konkurransegrunnlag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Innhold: 3 nivå-2-elementer i denne hovedgrenen.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548235"/>
                </a:solidFill>
              </a:rPr>
              <a:t>Presedens — 3 Forberedelse/riving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828800" cy="91440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3.1</a:t>
            </a:r>
            <a:br/>
            <a:r>
              <a:t>Miljøsanering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66360" y="2286000"/>
            <a:ext cx="1828800" cy="91440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3.2</a:t>
            </a:r>
            <a:br/>
            <a:r>
              <a:t>Riving av eksisterende skole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286000"/>
            <a:ext cx="1828800" cy="91440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3.3</a:t>
            </a:r>
            <a:br/>
            <a:r>
              <a:t>Grunnarbeid og fundamentering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2743200"/>
            <a:ext cx="30632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95160" y="2743200"/>
            <a:ext cx="30632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Innhold: 3 nivå-2-elementer i denne hovedgrenen.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C65911"/>
                </a:solidFill>
              </a:rPr>
              <a:t>Presedens — 4 Bygningsmessig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828800" cy="91440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4.1</a:t>
            </a:r>
            <a:br/>
            <a:r>
              <a:t>Råbygg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0340" y="2286000"/>
            <a:ext cx="1828800" cy="91440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4.2</a:t>
            </a:r>
            <a:br/>
            <a:r>
              <a:t>Innvendig 1. etasje (småtrinn 1–4)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2286000"/>
            <a:ext cx="1828800" cy="91440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4.3</a:t>
            </a:r>
            <a:br/>
            <a:r>
              <a:t>Innvendig 2. etasje (mellomtrinn 5–7)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2380" y="2286000"/>
            <a:ext cx="1828800" cy="91440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4.4</a:t>
            </a:r>
            <a:br/>
            <a:r>
              <a:t>Innvendig 3. etasje (ungdomstrinn 8–10)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286000"/>
            <a:ext cx="1828800" cy="91440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4.5</a:t>
            </a:r>
            <a:br/>
            <a:r>
              <a:t>Gymsal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743200"/>
            <a:ext cx="61722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3120" y="2743200"/>
            <a:ext cx="30632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03120" y="2743200"/>
            <a:ext cx="550926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03120" y="2743200"/>
            <a:ext cx="795528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Innhold: 5 nivå-2-elementer i denne hovedgrenen.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BF8F00"/>
                </a:solidFill>
              </a:rPr>
              <a:t>Presedens — 5 Tekniske anlegg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828800" cy="91440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5.1</a:t>
            </a:r>
            <a:br/>
            <a:r>
              <a:t>VVS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0340" y="2286000"/>
            <a:ext cx="1828800" cy="91440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5.2</a:t>
            </a:r>
            <a:br/>
            <a:r>
              <a:t>Elektro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2286000"/>
            <a:ext cx="1828800" cy="91440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5.3</a:t>
            </a:r>
            <a:br/>
            <a:r>
              <a:t>Heis og vertikal transport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2380" y="2286000"/>
            <a:ext cx="1828800" cy="91440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5.4</a:t>
            </a:r>
            <a:br/>
            <a:r>
              <a:t>Automasjon — SD-anlegg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286000"/>
            <a:ext cx="1828800" cy="91440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5.5</a:t>
            </a:r>
            <a:br/>
            <a:r>
              <a:t>IKT og sikkerhet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Innhold: 5 nivå-2-elementer i denne hovedgrenen.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385723"/>
                </a:solidFill>
              </a:rPr>
              <a:t>Presedens — 6 Utomhus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828800" cy="91440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6.1</a:t>
            </a:r>
            <a:br/>
            <a:r>
              <a:t>Lekearealer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35680" y="2286000"/>
            <a:ext cx="1828800" cy="91440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6.2</a:t>
            </a:r>
            <a:br/>
            <a:r>
              <a:t>Sport og fritid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97040" y="2286000"/>
            <a:ext cx="1828800" cy="91440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6.3</a:t>
            </a:r>
            <a:br/>
            <a:r>
              <a:t>Infrastruktur og parkering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286000"/>
            <a:ext cx="1828800" cy="91440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6.4</a:t>
            </a:r>
            <a:br/>
            <a:r>
              <a:t>Grøntanlegg og støyskjerming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Innhold: 4 nivå-2-elementer i denne hovedgrenen.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7030A0"/>
                </a:solidFill>
              </a:rPr>
              <a:t>Presedens — 7 Inventar (FF&amp;E)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828800" cy="91440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7.1</a:t>
            </a:r>
            <a:br/>
            <a:r>
              <a:t>Løst inventar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66360" y="2286000"/>
            <a:ext cx="1828800" cy="91440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7.2</a:t>
            </a:r>
            <a:br/>
            <a:r>
              <a:t>Spesialutstyr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286000"/>
            <a:ext cx="1828800" cy="91440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7.3</a:t>
            </a:r>
            <a:br/>
            <a:r>
              <a:t>AV-løsninger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Innhold: 3 nivå-2-elementer i denne hovedgrenen.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843C0C"/>
                </a:solidFill>
              </a:rPr>
              <a:t>Presedens — 8 Overtakelse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828800" cy="91440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8.1</a:t>
            </a:r>
            <a:br/>
            <a:r>
              <a:t>Testing og prøvedrift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0340" y="2286000"/>
            <a:ext cx="1828800" cy="91440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8.2</a:t>
            </a:r>
            <a:br/>
            <a:r>
              <a:t>Ferdigbefaring (BP3)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2286000"/>
            <a:ext cx="1828800" cy="91440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8.3</a:t>
            </a:r>
            <a:br/>
            <a:r>
              <a:t>FDV-dokumentasjon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2380" y="2286000"/>
            <a:ext cx="1828800" cy="91440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8.4</a:t>
            </a:r>
            <a:br/>
            <a:r>
              <a:t>Brukeropplæring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286000"/>
            <a:ext cx="1828800" cy="91440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8.5</a:t>
            </a:r>
            <a:br/>
            <a:r>
              <a:t>Prosjektevaluering og sluttrapport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743200"/>
            <a:ext cx="61722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49140" y="2743200"/>
            <a:ext cx="30632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49140" y="2743200"/>
            <a:ext cx="550926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95160" y="2743200"/>
            <a:ext cx="306324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41180" y="2743200"/>
            <a:ext cx="61722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Innhold: 5 nivå-2-elementer i denne hovedgrenen.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